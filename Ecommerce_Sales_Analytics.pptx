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3232" y="11155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E-commerce</a:t>
            </a:r>
            <a:br>
              <a:rPr dirty="0"/>
            </a:br>
            <a:r>
              <a:rPr dirty="0"/>
              <a:t>Sales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" y="226771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30428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E6A5134-834C-2158-89F1-1EBA89950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38328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 i="0">
                <a:solidFill>
                  <a:srgbClr val="6C4997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26871"/>
                </a:solidFill>
                <a:latin typeface="Aptos"/>
              </a:defRPr>
            </a:pPr>
            <a:r>
              <a:t>From raw transactions to business-ready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960120" cy="50292"/>
          </a:xfrm>
          <a:prstGeom prst="rect">
            <a:avLst/>
          </a:prstGeom>
          <a:solidFill>
            <a:srgbClr val="C2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5257800" cy="1353312"/>
          </a:xfrm>
          <a:prstGeom prst="roundRect">
            <a:avLst/>
          </a:prstGeom>
          <a:solidFill>
            <a:srgbClr val="F1EBF7"/>
          </a:solidFill>
          <a:ln>
            <a:solidFill>
              <a:srgbClr val="F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92224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C2302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5239512" y="1837944"/>
            <a:ext cx="393192" cy="393192"/>
          </a:xfrm>
          <a:prstGeom prst="ellipse">
            <a:avLst/>
          </a:prstGeom>
          <a:solidFill>
            <a:srgbClr val="6C4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39512" y="1860804"/>
            <a:ext cx="3931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AFBFD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93976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 i="0">
                <a:solidFill>
                  <a:srgbClr val="272B30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86584"/>
            <a:ext cx="434340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 i="0">
                <a:solidFill>
                  <a:srgbClr val="626871"/>
                </a:solidFill>
                <a:latin typeface="Aptos"/>
              </a:defRPr>
            </a:pPr>
            <a:r>
              <a:t>customers  •  orders</a:t>
            </a:r>
            <a:br/>
            <a:r>
              <a:t>product_orders  • 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27632"/>
            <a:ext cx="5257800" cy="1353312"/>
          </a:xfrm>
          <a:prstGeom prst="roundRect">
            <a:avLst/>
          </a:prstGeom>
          <a:solidFill>
            <a:srgbClr val="E8F2F8"/>
          </a:solidFill>
          <a:ln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792224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C2302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Oval 12"/>
          <p:cNvSpPr/>
          <p:nvPr/>
        </p:nvSpPr>
        <p:spPr>
          <a:xfrm>
            <a:off x="10835640" y="1837944"/>
            <a:ext cx="393192" cy="393192"/>
          </a:xfrm>
          <a:prstGeom prst="ellipse">
            <a:avLst/>
          </a:prstGeom>
          <a:solidFill>
            <a:srgbClr val="2D7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35640" y="1860804"/>
            <a:ext cx="3931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AFBFD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093976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 i="0">
                <a:solidFill>
                  <a:srgbClr val="272B30"/>
                </a:solidFill>
                <a:latin typeface="Aptos"/>
              </a:defRPr>
            </a:pPr>
            <a:r>
              <a:t>REVENUE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386584"/>
            <a:ext cx="434340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 i="0">
                <a:solidFill>
                  <a:srgbClr val="626871"/>
                </a:solidFill>
                <a:latin typeface="Aptos"/>
              </a:defRPr>
            </a:pPr>
            <a:r>
              <a:t>quantity × unit_price</a:t>
            </a:r>
            <a:br/>
            <a:r>
              <a:t>core sales calculation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27832"/>
            <a:ext cx="5257800" cy="1353312"/>
          </a:xfrm>
          <a:prstGeom prst="roundRect">
            <a:avLst/>
          </a:prstGeom>
          <a:solidFill>
            <a:srgbClr val="E8F5F3"/>
          </a:solidFill>
          <a:ln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392424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C2302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5239512" y="3438144"/>
            <a:ext cx="393192" cy="393192"/>
          </a:xfrm>
          <a:prstGeom prst="ellipse">
            <a:avLst/>
          </a:prstGeom>
          <a:solidFill>
            <a:srgbClr val="2B8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39512" y="3461003"/>
            <a:ext cx="3931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AFBFD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 i="0">
                <a:solidFill>
                  <a:srgbClr val="272B30"/>
                </a:solidFill>
                <a:latin typeface="Aptos"/>
              </a:defRPr>
            </a:pPr>
            <a:r>
              <a:t>SQL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86783"/>
            <a:ext cx="434340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 i="0">
                <a:solidFill>
                  <a:srgbClr val="626871"/>
                </a:solidFill>
                <a:latin typeface="Aptos"/>
              </a:defRPr>
            </a:pPr>
            <a:r>
              <a:t>Joins  •  CTEs  •  Subqueries</a:t>
            </a:r>
            <a:br/>
            <a:r>
              <a:t>Window functions  •  Aggregations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227832"/>
            <a:ext cx="5257800" cy="1353312"/>
          </a:xfrm>
          <a:prstGeom prst="roundRect">
            <a:avLst/>
          </a:prstGeom>
          <a:solidFill>
            <a:srgbClr val="FAF0E5"/>
          </a:solidFill>
          <a:ln>
            <a:solidFill>
              <a:srgbClr val="FA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3392424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C2302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Oval 24"/>
          <p:cNvSpPr/>
          <p:nvPr/>
        </p:nvSpPr>
        <p:spPr>
          <a:xfrm>
            <a:off x="10835640" y="3438144"/>
            <a:ext cx="393192" cy="393192"/>
          </a:xfrm>
          <a:prstGeom prst="ellipse">
            <a:avLst/>
          </a:prstGeom>
          <a:solidFill>
            <a:srgbClr val="E0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35640" y="3461003"/>
            <a:ext cx="3931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AFBFD"/>
                </a:solidFill>
                <a:latin typeface="Aptos"/>
              </a:defRPr>
            </a:pPr>
            <a:r>
              <a:t>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3694176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 i="0">
                <a:solidFill>
                  <a:srgbClr val="272B30"/>
                </a:solidFill>
                <a:latin typeface="Aptos"/>
              </a:defRPr>
            </a:pPr>
            <a:r>
              <a:t>BUSINESS AREAS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3986783"/>
            <a:ext cx="434340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 i="0">
                <a:solidFill>
                  <a:srgbClr val="626871"/>
                </a:solidFill>
                <a:latin typeface="Aptos"/>
              </a:defRPr>
            </a:pPr>
            <a:r>
              <a:t>Customers  •  Products</a:t>
            </a:r>
            <a:br/>
            <a:r>
              <a:t>Product types  •  Monthly revenue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28032"/>
            <a:ext cx="10853928" cy="1033271"/>
          </a:xfrm>
          <a:prstGeom prst="roundRect">
            <a:avLst/>
          </a:prstGeom>
          <a:solidFill>
            <a:srgbClr val="EFF0F6"/>
          </a:solidFill>
          <a:ln>
            <a:solidFill>
              <a:srgbClr val="EF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855464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C2302C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31" name="Oval 30"/>
          <p:cNvSpPr/>
          <p:nvPr/>
        </p:nvSpPr>
        <p:spPr>
          <a:xfrm>
            <a:off x="10835639" y="5038344"/>
            <a:ext cx="393192" cy="393192"/>
          </a:xfrm>
          <a:prstGeom prst="ellipse">
            <a:avLst/>
          </a:prstGeom>
          <a:solidFill>
            <a:srgbClr val="18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35639" y="5061204"/>
            <a:ext cx="3931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AFBF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28032"/>
            <a:ext cx="68580" cy="1033271"/>
          </a:xfrm>
          <a:prstGeom prst="rect">
            <a:avLst/>
          </a:prstGeom>
          <a:solidFill>
            <a:srgbClr val="18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3169" y="513892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 i="0">
                <a:solidFill>
                  <a:srgbClr val="272B30"/>
                </a:solidFill>
                <a:latin typeface="Aptos"/>
              </a:defRPr>
            </a:pPr>
            <a:r>
              <a:rPr dirty="0"/>
              <a:t>PROJECT GOAL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5038344"/>
            <a:ext cx="8229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1" i="0">
                <a:solidFill>
                  <a:srgbClr val="18314C"/>
                </a:solidFill>
                <a:latin typeface="Aptos"/>
              </a:defRPr>
            </a:pPr>
            <a:r>
              <a:t>Turn transaction data into actionable insights for customer, product and revenue decisions.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437376"/>
            <a:ext cx="960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 i="0">
                <a:solidFill>
                  <a:srgbClr val="626871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Customer Revenue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every customer who has placed at least one order. Show: - customer_id - customer name - number of orders - total quantity purchased - total revenue Sort by total revenue from highest to lowest.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3949799" cy="18466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c.customer_id,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4FADDE"/>
                </a:solidFill>
                <a:latin typeface="Consolas"/>
              </a:rPr>
              <a:t>concat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(c.first_name,</a:t>
            </a:r>
            <a:r>
              <a:rPr sz="1000" dirty="0">
                <a:solidFill>
                  <a:srgbClr val="EEA858"/>
                </a:solidFill>
                <a:latin typeface="Consolas"/>
              </a:rPr>
              <a:t>' '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,c.last_name)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customer_name,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count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distinct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o.order_id)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total_orders ,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(po.quantity)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total_quantity ,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(po.unit_price *po.quantity)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total_revenue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c.customer_id=o.customer_id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o.order_id=po.order_id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c.customer_id,customer_name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having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count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(o.order_id) &gt;=1;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447" y="5029200"/>
            <a:ext cx="2608681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Customer revenue is concentrated among the leading customers. The displayed leaders include Arin Semrad ($8,850.69), Zollie Girdler ($8,081.72) and Dorolisa Deeble ($7,755.88), giving the business a clear high-value customer group to protect and grow.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Product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the total revenue and total quantity sold for every product. Show: - product_id - product_name - product_type - total_quantity - total_revenue Include only products that have been ordered.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8"/>
            <a:ext cx="3849624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p.product_id,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p.product_name,p.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product_type,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(po.quantity)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total_quantity ,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(po.unit_price*po.quantity)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total_revenue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products p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p.product_id=po.product_id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p.product_id,p.product_name,p.product_type</a:t>
            </a:r>
            <a:r>
              <a:rPr sz="68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16" y="5029200"/>
            <a:ext cx="3247542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Product revenue varies materially across the catalog. The result provides a basis for prioritising products with stronger sales volume and revenue, while identifying lower-performing products that may need pricing, promotion or assortment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Product-Type Revenue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total revenue generated by each product type. Show: - product_type - number of distinct products sold - total quantity sold - 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2034540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4562856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p.product_type,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count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distinct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po.product_id)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distinct_product_sold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(po.quantity)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total_quantity_sold,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(po.unit_price*po.quantity)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total_revenue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products 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p.product_id=po.product_id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 p.product_type;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899" y="5029200"/>
            <a:ext cx="2741777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Revenue and sales volume differ by product type, so category-level performance should guide inventory and commercial focus. The analysis helps identify product types that generate substantial revenue without relying on a single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Customers With No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customers who have never placed an order. Show: - customer_id - customer name - city - state_province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" y="2077463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3879267" cy="1077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c.customer_id,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4FADDE"/>
                </a:solidFill>
                <a:latin typeface="Consolas"/>
              </a:rPr>
              <a:t>concat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(c.first_name,</a:t>
            </a:r>
            <a:r>
              <a:rPr sz="1000" dirty="0">
                <a:solidFill>
                  <a:srgbClr val="EEA858"/>
                </a:solidFill>
                <a:latin typeface="Consolas"/>
              </a:rPr>
              <a:t>' '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,c.last_name)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customer_name,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c.city,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c.state_province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left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c.customer_id=o.customer_id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where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o.order_id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is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null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948" y="5029200"/>
            <a:ext cx="2049678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A measurable group of customers has no recorded orders. These customers represent a reactivation opportunity; targeted offers or reminders can be used to test whether dormant customers can be converted into repeat buyers.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Products Never Ordered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products that have never appeared in product_orders. Show: - product_id - product_name - product_type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" y="2098549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2115964" cy="1077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p.product_id,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p.product_name,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p.product_type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products 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left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p.product_id =po.product_id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WHERE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po.order_id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IS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NULL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5148072"/>
            <a:ext cx="6446520" cy="10058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00" b="0" i="0" u="none">
                <a:solidFill>
                  <a:srgbClr val="646A72"/>
                </a:solidFill>
                <a:latin typeface="Aptos"/>
              </a:defRPr>
            </a:pPr>
            <a:r>
              <a:t>No matching result screenshot was supplied for this question.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Products with no orders represent unused inventory/assortment potential. Before investing further in these products, the business should review demand, pricing, product positioning and availability.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Order-Level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For every order, calculate the total order value. Also show: - order_id - order_date - customer_id - customer name - total items - order_value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592824" cy="2295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o.order_id,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o.order_date,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c.customer_id,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4FADDE"/>
                </a:solidFill>
                <a:latin typeface="Consolas"/>
              </a:rPr>
              <a:t>concat</a:t>
            </a:r>
            <a:r>
              <a:rPr sz="919">
                <a:solidFill>
                  <a:srgbClr val="FFFFFF"/>
                </a:solidFill>
                <a:latin typeface="Consolas"/>
              </a:rPr>
              <a:t>(c.first_name,</a:t>
            </a:r>
            <a:r>
              <a:rPr sz="919">
                <a:solidFill>
                  <a:srgbClr val="EEA858"/>
                </a:solidFill>
                <a:latin typeface="Consolas"/>
              </a:rPr>
              <a:t>' '</a:t>
            </a:r>
            <a:r>
              <a:rPr sz="919">
                <a:solidFill>
                  <a:srgbClr val="FFFFFF"/>
                </a:solidFill>
                <a:latin typeface="Consolas"/>
              </a:rPr>
              <a:t> ,c.last_name)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customer_name,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sum</a:t>
            </a:r>
            <a:r>
              <a:rPr sz="919">
                <a:solidFill>
                  <a:srgbClr val="FFFFFF"/>
                </a:solidFill>
                <a:latin typeface="Consolas"/>
              </a:rPr>
              <a:t>(po.quantity)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total_items,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sum</a:t>
            </a:r>
            <a:r>
              <a:rPr sz="919">
                <a:solidFill>
                  <a:srgbClr val="FFFFFF"/>
                </a:solidFill>
                <a:latin typeface="Consolas"/>
              </a:rPr>
              <a:t>(po.unit_price*po.quantity)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total_revenue </a:t>
            </a: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c.customer_id=o.customer_id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o.order_id=po.order_id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group by</a:t>
            </a:r>
            <a:r>
              <a:rPr sz="919">
                <a:solidFill>
                  <a:srgbClr val="FFFFFF"/>
                </a:solidFill>
                <a:latin typeface="Consolas"/>
              </a:rPr>
              <a:t> o.order_id,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o.order_date,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c.customer_id,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customer_name;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934" y="5029200"/>
            <a:ext cx="2781706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Order-level revenue makes transaction size visible. This supports basket-value analysis and helps identify unusually large or small orders that may explain changes in overall revenue.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Rank Customers by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Calculate each customer's total revenue and rank customers from highest to lowest revenue using DENSE_RANK(). Show: - customer_id - customer_name - total_revenue - revenue_rank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5078313" cy="16927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4FADDE"/>
                </a:solidFill>
                <a:latin typeface="Consolas"/>
              </a:rPr>
              <a:t>concat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c.first_name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  <a:r>
              <a:rPr sz="1000" dirty="0">
                <a:solidFill>
                  <a:srgbClr val="EEA858"/>
                </a:solidFill>
                <a:latin typeface="Consolas"/>
              </a:rPr>
              <a:t>' '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c.last_name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customer_name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5EBC74"/>
                </a:solidFill>
                <a:latin typeface="Consolas"/>
              </a:rPr>
              <a:t>dense_rank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order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desc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rnk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o.customer_id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customer_name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623" y="5029200"/>
            <a:ext cx="1934328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Customer revenue ranking identifies the highest-value customers. The displayed ranking places Arin Semrad first at $8,850.69, providing a practical starting point for retention and high-value customer strategies.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Top 3 Products Within Each Product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Calculate revenue for every product and return the top 3 products within each product_type using ROW_NUMBER().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559488" cy="15388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p.product_id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p.product_name,p.product_type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5EBC74"/>
                </a:solidFill>
                <a:latin typeface="Consolas"/>
              </a:rPr>
              <a:t>Row_number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partition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p.product_type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order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desc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rank_product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products 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p.product_id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=po.product_id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p.product_id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p.product_name,p.product_type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where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rank_product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&lt;=3;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366" y="5029200"/>
            <a:ext cx="3016842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Top products differ within product types. Comparing the top three in each type helps the business concentrate inventory and promotion on the strongest products while avoiding a one-size-fits-all category strategy.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Running Monthly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Calculate total revenue for each month and the cumulative (running) revenue over time. Show: - month - monthly_revenue - cumulative_revenue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5642570" cy="16927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,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(revenue)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 order  by 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month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 err="1">
                <a:solidFill>
                  <a:srgbClr val="5EBC74"/>
                </a:solidFill>
                <a:latin typeface="Consolas"/>
              </a:rPr>
              <a:t>asc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cumulative_revenue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MONTH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month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revenue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month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where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month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is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not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null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76" y="5029200"/>
            <a:ext cx="2018622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Cumulative revenue rises from about $28.7K in Feb-2019 to about $465.3K by Feb-2020 in the supplied output. This gives management a clear view of total revenue accumulated over the analysis period.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Customer Order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For every order, show the customer's: - order sequence number - order_id - order_date - customer_id The first order for a customer should have sequence number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700552" cy="1077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 err="1">
                <a:solidFill>
                  <a:srgbClr val="5EBC74"/>
                </a:solidFill>
                <a:latin typeface="Consolas"/>
              </a:rPr>
              <a:t>row_number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partition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order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 err="1">
                <a:solidFill>
                  <a:srgbClr val="5EBC74"/>
                </a:solidFill>
                <a:latin typeface="Consolas"/>
              </a:rPr>
              <a:t>asc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order_sequence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846" y="5029200"/>
            <a:ext cx="1685882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Customers show different purchase sequences, with some having multiple orders. This supports lifecycle analysis: first purchase, repeat purchase and subsequent buying behaviour can be treated as different customer stages.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Days Between Customer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Use LAG() to calculate the number of days between each customer's current order and previous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630020" cy="12311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, 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DATEDIFF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previous_order_date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days_between_orders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lag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partition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ORDER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previous_order_date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006" y="5029200"/>
            <a:ext cx="2861564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The time between orders varies considerably across customers. Large gaps can indicate slower repurchase cycles and can help define when a customer should receive a re-engagement message.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Order Contribution to Customer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For every order, calculate: - order value - customer's total revenue - percentage of customer revenue contributed by that order Use a window function to calculate the customer total.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7" y="2377439"/>
            <a:ext cx="6601968" cy="16927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with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*,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order_value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partition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customer_total_revenue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    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o.order_id,</a:t>
            </a:r>
            <a:r>
              <a:rPr sz="1000" b="1" dirty="0" err="1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) 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order_value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o.customer_id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    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, (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order_value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/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customer_total_revenue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)*100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544" y="5029200"/>
            <a:ext cx="3216486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Revenue contribution differs by order within the same customer. For repeat customers, some orders account for a much larger share of lifetime revenue, helping identify the transactions and behaviours that drive customer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Highest-Value Order for Every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Return only the highest-value order for each customer. If two orders have the same value, use the earlier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630020" cy="15388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with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 , </a:t>
            </a:r>
            <a:r>
              <a:rPr sz="1000" b="1" dirty="0" err="1">
                <a:solidFill>
                  <a:srgbClr val="5EBC74"/>
                </a:solidFill>
                <a:latin typeface="Consolas"/>
              </a:rPr>
              <a:t>row_number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partition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order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order_value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desc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 err="1">
                <a:solidFill>
                  <a:srgbClr val="FFFFFF"/>
                </a:solidFill>
                <a:latin typeface="Consolas"/>
              </a:rPr>
              <a:t>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 err="1">
                <a:solidFill>
                  <a:srgbClr val="5EBC74"/>
                </a:solidFill>
                <a:latin typeface="Consolas"/>
              </a:rPr>
              <a:t>asc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rnk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o.order_id,o.order_date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order_value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o.customer_id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o.order_id,o.order_date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where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rnk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=1 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5148072"/>
            <a:ext cx="6446520" cy="10058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000" b="0" i="0" u="none">
                <a:solidFill>
                  <a:srgbClr val="646A72"/>
                </a:solidFill>
                <a:latin typeface="Aptos"/>
              </a:defRPr>
            </a:pPr>
            <a:r>
              <a:t>No matching result screenshot was supplied for this question.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Each customer has a highest-value order that can be compared with their other purchases. This helps identify customers capable of larger baskets and can inform cross-sell or upsell strategies.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Monthly Revenue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Calculate monthly revenue and compare each month with the previous month using LAG(). Show: - month - monthly_revenue - previous_month_revenue - revenue_change - growth_percentage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7" y="2240279"/>
            <a:ext cx="6492240" cy="21544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with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*,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lag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monthly_revenue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order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months </a:t>
            </a:r>
            <a:r>
              <a:rPr sz="1000" b="1" dirty="0" err="1">
                <a:solidFill>
                  <a:srgbClr val="5EBC74"/>
                </a:solidFill>
                <a:latin typeface="Consolas"/>
              </a:rPr>
              <a:t>asc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previous_month_revenue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month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months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monthly_revenue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 months)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monthly_revenue-previous_month_revenue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revenue_change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,((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monthly_revenue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-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previous_month_revenue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/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NULLIF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previous_month_revenue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 0)) * 100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growth_percentage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814" y="5029200"/>
            <a:ext cx="3393948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Monthly revenue is volatile. May-2019 is the highest displayed month at about $57.46K with 74.68% growth, while Jan-2020 and Feb-2020 show declines. Management should investigate the drivers of these month-to-month swings.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Customer Purchase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00" b="1" i="0" u="none">
                <a:solidFill>
                  <a:srgbClr val="1E2023"/>
                </a:solidFill>
                <a:latin typeface="Aptos"/>
              </a:defRPr>
            </a:pPr>
            <a:r>
              <a:t>Using a CTE, calculate each customer's: - total orders - total revenue Then classify customers as: - High Value: revenue &gt;= 1000 - Medium Value: revenue &gt;= 500 and &lt; 1000 - Low Value: revenue &lt; 500 Return customer_id, customer_name, orders, revenue,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3628" y="2194558"/>
            <a:ext cx="6123431" cy="20928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5EBC74"/>
                </a:solidFill>
                <a:latin typeface="Consolas"/>
              </a:rPr>
              <a:t>with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 err="1">
                <a:solidFill>
                  <a:srgbClr val="4FADDE"/>
                </a:solidFill>
                <a:latin typeface="Consolas"/>
              </a:rPr>
              <a:t>concat</a:t>
            </a:r>
            <a:r>
              <a:rPr sz="800" dirty="0">
                <a:solidFill>
                  <a:srgbClr val="FFFFFF"/>
                </a:solidFill>
                <a:latin typeface="Consolas"/>
              </a:rPr>
              <a:t>(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c.first_name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,</a:t>
            </a:r>
            <a:r>
              <a:rPr sz="800" dirty="0">
                <a:solidFill>
                  <a:srgbClr val="EEA858"/>
                </a:solidFill>
                <a:latin typeface="Consolas"/>
              </a:rPr>
              <a:t>' '</a:t>
            </a:r>
            <a:r>
              <a:rPr sz="800" dirty="0">
                <a:solidFill>
                  <a:srgbClr val="FFFFFF"/>
                </a:solidFill>
                <a:latin typeface="Consolas"/>
              </a:rPr>
              <a:t>,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c.last_name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customer_name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count</a:t>
            </a:r>
            <a:r>
              <a:rPr sz="800" dirty="0">
                <a:solidFill>
                  <a:srgbClr val="FFFFFF"/>
                </a:solidFill>
                <a:latin typeface="Consolas"/>
              </a:rPr>
              <a:t>(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distinct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8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total_orders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800" dirty="0">
                <a:solidFill>
                  <a:srgbClr val="FFFFFF"/>
                </a:solidFill>
                <a:latin typeface="Consolas"/>
              </a:rPr>
              <a:t>(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800" dirty="0">
                <a:solidFill>
                  <a:srgbClr val="FFFFFF"/>
                </a:solidFill>
                <a:latin typeface="Consolas"/>
              </a:rPr>
              <a:t>*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800" dirty="0">
                <a:solidFill>
                  <a:srgbClr val="FFFFFF"/>
                </a:solidFill>
                <a:latin typeface="Consolas"/>
              </a:rPr>
              <a:t>=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o.customer_id</a:t>
            </a:r>
            <a:endParaRPr sz="8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800" dirty="0">
                <a:solidFill>
                  <a:srgbClr val="FFFFFF"/>
                </a:solidFill>
                <a:latin typeface="Consolas"/>
              </a:rPr>
              <a:t>=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8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800" dirty="0">
                <a:solidFill>
                  <a:srgbClr val="FFFFFF"/>
                </a:solidFill>
                <a:latin typeface="Consolas"/>
              </a:rPr>
              <a:t>,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c.first_name,c.last_name</a:t>
            </a:r>
            <a:endParaRPr sz="8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,classify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(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*,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case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when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&gt;= 1000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then</a:t>
            </a:r>
            <a:r>
              <a:rPr lang="en-GB" sz="800" b="1" dirty="0">
                <a:solidFill>
                  <a:srgbClr val="5EBC74"/>
                </a:solidFill>
                <a:latin typeface="Consolas"/>
              </a:rPr>
              <a:t> </a:t>
            </a:r>
            <a:r>
              <a:rPr sz="800" dirty="0">
                <a:solidFill>
                  <a:srgbClr val="EEA858"/>
                </a:solidFill>
                <a:latin typeface="Consolas"/>
              </a:rPr>
              <a:t>'high value'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when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&gt;= 500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               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AND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&lt; 1000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THEN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>
                <a:solidFill>
                  <a:srgbClr val="EEA858"/>
                </a:solidFill>
                <a:latin typeface="Consolas"/>
              </a:rPr>
              <a:t>'Medium Value'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else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>
                <a:solidFill>
                  <a:srgbClr val="EEA858"/>
                </a:solidFill>
                <a:latin typeface="Consolas"/>
              </a:rPr>
              <a:t>'low value'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end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segment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customer_id,customer_name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, 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total_orders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orders ,</a:t>
            </a:r>
            <a:r>
              <a:rPr sz="8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revenue ,segment </a:t>
            </a:r>
            <a:r>
              <a:rPr sz="8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800" dirty="0">
                <a:solidFill>
                  <a:srgbClr val="FFFFFF"/>
                </a:solidFill>
                <a:latin typeface="Consolas"/>
              </a:rPr>
              <a:t> classify;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431" y="5029200"/>
            <a:ext cx="2466712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Customer segmentation creates actionable value groups. High-value customers (revenue ≥ $1,000) can receive retention and upsell attention, while medium/low-value groups can be approached with conversion and repeat-purchase campaigns.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Product Type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Using CTEs, calculate revenue for every product and then summarize the results by product_type. Show: - product_type - products_sold - total_quantity - total_revenue - average_product_revenue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4827015" cy="2354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with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select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 err="1">
                <a:solidFill>
                  <a:srgbClr val="FFFFFF"/>
                </a:solidFill>
                <a:latin typeface="Consolas"/>
              </a:rPr>
              <a:t>p.product_type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 err="1">
                <a:solidFill>
                  <a:srgbClr val="FFFFFF"/>
                </a:solidFill>
                <a:latin typeface="Consolas"/>
              </a:rPr>
              <a:t>p.product_id</a:t>
            </a:r>
            <a:r>
              <a:rPr sz="9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90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9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total_quantity</a:t>
            </a:r>
            <a:r>
              <a:rPr sz="9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90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900" dirty="0">
                <a:solidFill>
                  <a:srgbClr val="FFFFFF"/>
                </a:solidFill>
                <a:latin typeface="Consolas"/>
              </a:rPr>
              <a:t>*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products 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p.product_id</a:t>
            </a:r>
            <a:r>
              <a:rPr sz="900" dirty="0">
                <a:solidFill>
                  <a:srgbClr val="FFFFFF"/>
                </a:solidFill>
                <a:latin typeface="Consolas"/>
              </a:rPr>
              <a:t>=po.product_id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p.product_type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,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p.product_id</a:t>
            </a:r>
            <a:endParaRPr sz="9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product_type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, </a:t>
            </a:r>
            <a:endParaRPr lang="en-GB" sz="9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COUNT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product_id</a:t>
            </a:r>
            <a:r>
              <a:rPr sz="9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products_sold</a:t>
            </a:r>
            <a:r>
              <a:rPr lang="en-GB"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>
                <a:solidFill>
                  <a:srgbClr val="FFFFFF"/>
                </a:solidFill>
                <a:latin typeface="Consolas"/>
              </a:rPr>
              <a:t>, </a:t>
            </a:r>
            <a:endParaRPr lang="en-GB" sz="9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90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total_quantity</a:t>
            </a:r>
            <a:r>
              <a:rPr sz="9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total_quantity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,</a:t>
            </a:r>
            <a:endParaRPr lang="en-GB" sz="9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90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,</a:t>
            </a:r>
            <a:endParaRPr lang="en-GB" sz="9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avg</a:t>
            </a:r>
            <a:r>
              <a:rPr sz="900" dirty="0">
                <a:solidFill>
                  <a:srgbClr val="FFFFFF"/>
                </a:solidFill>
                <a:latin typeface="Consolas"/>
              </a:rPr>
              <a:t>(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average_product_revenue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product_type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;</a:t>
            </a:r>
            <a:endParaRPr lang="en-GB" sz="9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184" y="5029200"/>
            <a:ext cx="3061207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Product-type performance highlights differences in product breadth, quantity and revenue. The displayed output shows oven as a major revenue contributor, while types with fewer products can still generate meaningful revenue, so both scale and productivity matter.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Top 5 Customers in Each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Using a CTE and ROW_NUMBER(), find the top 5 customers by revenue in every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5897880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with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month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months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*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=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000" b="1" dirty="0">
                <a:solidFill>
                  <a:srgbClr val="4FADDE"/>
                </a:solidFill>
                <a:latin typeface="Consolas"/>
              </a:rPr>
              <a:t>month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, ranked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,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5EBC74"/>
                </a:solidFill>
                <a:latin typeface="Consolas"/>
              </a:rPr>
              <a:t>row_number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partition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months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order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desc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rnk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ranked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where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rnk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&lt;=5 );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024" y="5029200"/>
            <a:ext cx="1885526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The monthly top-five view shows which customers drive revenue in each month. This can support monthly account management, retention monitoring and identification of customers whose contribution changes over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Orders Above Monthly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Using CTEs, calculate each order's value and the average order value for its month. Return orders whose value is greater than their month's average order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592824" cy="2295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with</a:t>
            </a:r>
            <a:r>
              <a:rPr sz="919">
                <a:solidFill>
                  <a:srgbClr val="FFFFFF"/>
                </a:solidFill>
                <a:latin typeface="Consolas"/>
              </a:rPr>
              <a:t> cte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(</a:t>
            </a: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o.order_id,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4FADDE"/>
                </a:solidFill>
                <a:latin typeface="Consolas"/>
              </a:rPr>
              <a:t>month</a:t>
            </a:r>
            <a:r>
              <a:rPr sz="919">
                <a:solidFill>
                  <a:srgbClr val="FFFFFF"/>
                </a:solidFill>
                <a:latin typeface="Consolas"/>
              </a:rPr>
              <a:t>(o.order_date)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months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,</a:t>
            </a:r>
            <a:r>
              <a:rPr sz="919" b="1">
                <a:solidFill>
                  <a:srgbClr val="5EBC74"/>
                </a:solidFill>
                <a:latin typeface="Consolas"/>
              </a:rPr>
              <a:t>sum</a:t>
            </a:r>
            <a:r>
              <a:rPr sz="919">
                <a:solidFill>
                  <a:srgbClr val="FFFFFF"/>
                </a:solidFill>
                <a:latin typeface="Consolas"/>
              </a:rPr>
              <a:t>(po.quantity*po.unit_price) 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order_value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o.order_id=po.order_id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group by</a:t>
            </a:r>
            <a:r>
              <a:rPr sz="919">
                <a:solidFill>
                  <a:srgbClr val="FFFFFF"/>
                </a:solidFill>
                <a:latin typeface="Consolas"/>
              </a:rPr>
              <a:t>  o.order_id,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4FADDE"/>
                </a:solidFill>
                <a:latin typeface="Consolas"/>
              </a:rPr>
              <a:t>month</a:t>
            </a:r>
            <a:r>
              <a:rPr sz="919">
                <a:solidFill>
                  <a:srgbClr val="FFFFFF"/>
                </a:solidFill>
                <a:latin typeface="Consolas"/>
              </a:rPr>
              <a:t>(o.order_date))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,avg_order_value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(</a:t>
            </a: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months,</a:t>
            </a:r>
            <a:r>
              <a:rPr sz="919" b="1">
                <a:solidFill>
                  <a:srgbClr val="5EBC74"/>
                </a:solidFill>
                <a:latin typeface="Consolas"/>
              </a:rPr>
              <a:t>avg</a:t>
            </a:r>
            <a:r>
              <a:rPr sz="919">
                <a:solidFill>
                  <a:srgbClr val="FFFFFF"/>
                </a:solidFill>
                <a:latin typeface="Consolas"/>
              </a:rPr>
              <a:t>(order_value)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avg_order_value_month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cte </a:t>
            </a:r>
            <a:r>
              <a:rPr sz="919" b="1">
                <a:solidFill>
                  <a:srgbClr val="5EBC74"/>
                </a:solidFill>
                <a:latin typeface="Consolas"/>
              </a:rPr>
              <a:t>group by</a:t>
            </a:r>
            <a:r>
              <a:rPr sz="919">
                <a:solidFill>
                  <a:srgbClr val="FFFFFF"/>
                </a:solidFill>
                <a:latin typeface="Consolas"/>
              </a:rPr>
              <a:t> months)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 c.order_id ,c.order_value,av.avg_order_value_month </a:t>
            </a: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avg_order_value av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cte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av.months=c.months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where</a:t>
            </a:r>
            <a:r>
              <a:rPr sz="919">
                <a:solidFill>
                  <a:srgbClr val="FFFFFF"/>
                </a:solidFill>
                <a:latin typeface="Consolas"/>
              </a:rPr>
              <a:t> c.order_value&gt;av.avg_order_value_month;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893" y="5029200"/>
            <a:ext cx="2111789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Orders above the monthly average are unusually large relative to the period in which they occurred. These transactions can reveal successful product combinations, promotions or customer behaviours worth replicating.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Customer Retention / Repeat Purchase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Using CTEs, find customers who placed at least 2 orders. Show: - customer_id - first_order_date - last_order_date - total_orders - days_between_first_and_last_order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5" y="2281428"/>
            <a:ext cx="5642570" cy="15388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with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max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last_order_date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min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first_order_date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count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distinct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total_orders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orders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customer_id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having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count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distinct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order_id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)&gt;=2 )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* ,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4FADDE"/>
                </a:solidFill>
                <a:latin typeface="Consolas"/>
              </a:rPr>
              <a:t>datediff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last_order_date,first_order_date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10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days_between_first_and_last_order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endParaRPr lang="en-GB" sz="10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sz="919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509" y="5029200"/>
            <a:ext cx="3176557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Repeat customers have at least two orders, and the first-to-last order span shows how long the relationship remains active in the data. Longer spans can indicate stronger customer retention and provide a basis for lifecycle measurement.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Customers Spending Above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customers whose total revenue is greater than the average revenue of all customers who have placed orders. Show: - customer_id - customer_name - total_revenue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" y="207568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4720844" cy="21727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7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 err="1">
                <a:solidFill>
                  <a:srgbClr val="FFFFFF"/>
                </a:solidFill>
                <a:latin typeface="Consolas"/>
              </a:rPr>
              <a:t>c.first_name</a:t>
            </a:r>
            <a:r>
              <a:rPr sz="7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700" dirty="0">
                <a:solidFill>
                  <a:srgbClr val="FFFFFF"/>
                </a:solidFill>
                <a:latin typeface="Consolas"/>
              </a:rPr>
              <a:t>(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*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7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7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total_revenue</a:t>
            </a:r>
            <a:endParaRPr sz="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customers 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orders o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700" dirty="0">
                <a:solidFill>
                  <a:srgbClr val="FFFFFF"/>
                </a:solidFill>
                <a:latin typeface="Consolas"/>
              </a:rPr>
              <a:t>=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o.customer_id</a:t>
            </a:r>
            <a:endParaRPr sz="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700" dirty="0">
                <a:solidFill>
                  <a:srgbClr val="FFFFFF"/>
                </a:solidFill>
                <a:latin typeface="Consolas"/>
              </a:rPr>
              <a:t>=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7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 err="1">
                <a:solidFill>
                  <a:srgbClr val="FFFFFF"/>
                </a:solidFill>
                <a:latin typeface="Consolas"/>
              </a:rPr>
              <a:t>c.first_name</a:t>
            </a:r>
            <a:endParaRPr sz="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having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700" dirty="0">
                <a:solidFill>
                  <a:srgbClr val="FFFFFF"/>
                </a:solidFill>
                <a:latin typeface="Consolas"/>
              </a:rPr>
              <a:t>(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*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700" dirty="0">
                <a:solidFill>
                  <a:srgbClr val="FFFFFF"/>
                </a:solidFill>
                <a:latin typeface="Consolas"/>
              </a:rPr>
              <a:t>)&gt; (</a:t>
            </a:r>
            <a:r>
              <a:rPr sz="7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b="1" dirty="0">
                <a:solidFill>
                  <a:srgbClr val="5EBC74"/>
                </a:solidFill>
                <a:latin typeface="Consolas"/>
              </a:rPr>
              <a:t>avg</a:t>
            </a:r>
            <a:r>
              <a:rPr sz="700" dirty="0">
                <a:solidFill>
                  <a:srgbClr val="FFFFFF"/>
                </a:solidFill>
                <a:latin typeface="Consolas"/>
              </a:rPr>
              <a:t>(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total_revenue</a:t>
            </a:r>
            <a:r>
              <a:rPr sz="7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7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(</a:t>
            </a:r>
            <a:r>
              <a:rPr sz="7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7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dirty="0" err="1">
                <a:solidFill>
                  <a:srgbClr val="FFFFFF"/>
                </a:solidFill>
                <a:latin typeface="Consolas"/>
              </a:rPr>
              <a:t>c.first_name</a:t>
            </a:r>
            <a:r>
              <a:rPr sz="7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700" dirty="0">
                <a:solidFill>
                  <a:srgbClr val="FFFFFF"/>
                </a:solidFill>
                <a:latin typeface="Consolas"/>
              </a:rPr>
              <a:t>(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*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7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7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total_revenue</a:t>
            </a:r>
            <a:endParaRPr sz="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customers 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orders o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700" dirty="0">
                <a:solidFill>
                  <a:srgbClr val="FFFFFF"/>
                </a:solidFill>
                <a:latin typeface="Consolas"/>
              </a:rPr>
              <a:t>=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o.customer_id</a:t>
            </a:r>
            <a:endParaRPr sz="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700" dirty="0">
                <a:solidFill>
                  <a:srgbClr val="FFFFFF"/>
                </a:solidFill>
                <a:latin typeface="Consolas"/>
              </a:rPr>
              <a:t>=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700" dirty="0">
                <a:solidFill>
                  <a:srgbClr val="FFFFFF"/>
                </a:solidFill>
                <a:latin typeface="Consolas"/>
              </a:rPr>
              <a:t> </a:t>
            </a:r>
            <a:r>
              <a:rPr sz="700" dirty="0" err="1">
                <a:solidFill>
                  <a:srgbClr val="FFFFFF"/>
                </a:solidFill>
                <a:latin typeface="Consolas"/>
              </a:rPr>
              <a:t>c.customer_id</a:t>
            </a:r>
            <a:r>
              <a:rPr sz="7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dirty="0" err="1">
                <a:solidFill>
                  <a:srgbClr val="FFFFFF"/>
                </a:solidFill>
                <a:latin typeface="Consolas"/>
              </a:rPr>
              <a:t>c.first_name</a:t>
            </a:r>
            <a:r>
              <a:rPr sz="819" dirty="0">
                <a:solidFill>
                  <a:srgbClr val="FFFFFF"/>
                </a:solidFill>
                <a:latin typeface="Consolas"/>
              </a:rPr>
              <a:t>)  </a:t>
            </a:r>
            <a:r>
              <a:rPr sz="819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819" dirty="0">
                <a:solidFill>
                  <a:srgbClr val="FFFFFF"/>
                </a:solidFill>
                <a:latin typeface="Consolas"/>
              </a:rPr>
              <a:t> t);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410" y="5029200"/>
            <a:ext cx="1694755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Customers above the average customer-revenue benchmark represent the higher-spending part of the customer base. The supplied result includes customers such as Reinald MacLucais and Orazio Sleaford, making them useful candidates for retention and value-growth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Products Above Average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products whose total revenue is greater than the average revenue across all products that have been ordered.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592824" cy="2295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p.product_id,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p.product_name,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sum</a:t>
            </a:r>
            <a:r>
              <a:rPr sz="919">
                <a:solidFill>
                  <a:srgbClr val="FFFFFF"/>
                </a:solidFill>
                <a:latin typeface="Consolas"/>
              </a:rPr>
              <a:t>(po.quantity * po.unit_price)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total_revenue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products 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p.product_id=po.product_id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group by</a:t>
            </a:r>
            <a:r>
              <a:rPr sz="919">
                <a:solidFill>
                  <a:srgbClr val="FFFFFF"/>
                </a:solidFill>
                <a:latin typeface="Consolas"/>
              </a:rPr>
              <a:t> p.product_id,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p.product_name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having</a:t>
            </a:r>
            <a:r>
              <a:rPr sz="919">
                <a:solidFill>
                  <a:srgbClr val="FFFFFF"/>
                </a:solidFill>
                <a:latin typeface="Consolas"/>
              </a:rPr>
              <a:t> </a:t>
            </a:r>
            <a:r>
              <a:rPr sz="919" b="1">
                <a:solidFill>
                  <a:srgbClr val="5EBC74"/>
                </a:solidFill>
                <a:latin typeface="Consolas"/>
              </a:rPr>
              <a:t>sum</a:t>
            </a:r>
            <a:r>
              <a:rPr sz="919">
                <a:solidFill>
                  <a:srgbClr val="FFFFFF"/>
                </a:solidFill>
                <a:latin typeface="Consolas"/>
              </a:rPr>
              <a:t>(po.quantity * po.unit_price) &gt; (</a:t>
            </a: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</a:t>
            </a:r>
            <a:r>
              <a:rPr sz="919" b="1">
                <a:solidFill>
                  <a:srgbClr val="5EBC74"/>
                </a:solidFill>
                <a:latin typeface="Consolas"/>
              </a:rPr>
              <a:t>avg</a:t>
            </a:r>
            <a:r>
              <a:rPr sz="919">
                <a:solidFill>
                  <a:srgbClr val="FFFFFF"/>
                </a:solidFill>
                <a:latin typeface="Consolas"/>
              </a:rPr>
              <a:t>(total_revenue1) </a:t>
            </a: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(</a:t>
            </a: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p.product_id,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p.product_name,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sum</a:t>
            </a:r>
            <a:r>
              <a:rPr sz="919">
                <a:solidFill>
                  <a:srgbClr val="FFFFFF"/>
                </a:solidFill>
                <a:latin typeface="Consolas"/>
              </a:rPr>
              <a:t>(po.quantity * po.unit_price)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total_revenue1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products 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p.product_id=po.product_id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group by</a:t>
            </a:r>
            <a:r>
              <a:rPr sz="919">
                <a:solidFill>
                  <a:srgbClr val="FFFFFF"/>
                </a:solidFill>
                <a:latin typeface="Consolas"/>
              </a:rPr>
              <a:t> p.product_id,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p.product_name)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t);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044" y="5029200"/>
            <a:ext cx="1783486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Products above the average product-revenue benchmark are stronger revenue contributors than the typical ordered product. The supplied result includes Bread machine ($9,987.58) and Pressure fryer ($9,542.97), which can inform inventory and promotional priorities.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Orders Above the Customer's Average Order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orders whose value is greater than the average order value of the same customer. Show: - order_id - customer_id - order_date - order_value - customer_average_order_value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" y="2075842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2592056" cy="22221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dirty="0">
                <a:solidFill>
                  <a:srgbClr val="5EBC74"/>
                </a:solidFill>
                <a:latin typeface="Consolas"/>
              </a:rPr>
              <a:t>W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ITH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order_values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5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o.customer_id</a:t>
            </a:r>
            <a:r>
              <a:rPr sz="5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o.order_date</a:t>
            </a:r>
            <a:r>
              <a:rPr sz="5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SUM</a:t>
            </a:r>
            <a:r>
              <a:rPr sz="500" dirty="0">
                <a:solidFill>
                  <a:srgbClr val="FFFFFF"/>
                </a:solidFill>
                <a:latin typeface="Consolas"/>
              </a:rPr>
              <a:t>(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po.quantity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*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po.unit_price</a:t>
            </a:r>
            <a:r>
              <a:rPr sz="5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order_value</a:t>
            </a:r>
            <a:endParaRPr sz="5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JOIN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ON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=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po.order_id</a:t>
            </a:r>
            <a:endParaRPr sz="5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GROUP BY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o.order_id</a:t>
            </a:r>
            <a:r>
              <a:rPr sz="5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o.customer_id</a:t>
            </a:r>
            <a:r>
              <a:rPr sz="50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o.order_date</a:t>
            </a:r>
            <a:endParaRPr sz="5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5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 err="1">
                <a:solidFill>
                  <a:srgbClr val="FFFFFF"/>
                </a:solidFill>
                <a:latin typeface="Consolas"/>
              </a:rPr>
              <a:t>cte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*,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AVG</a:t>
            </a:r>
            <a:r>
              <a:rPr sz="500" dirty="0">
                <a:solidFill>
                  <a:srgbClr val="FFFFFF"/>
                </a:solidFill>
                <a:latin typeface="Consolas"/>
              </a:rPr>
              <a:t>(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order_value</a:t>
            </a:r>
            <a:r>
              <a:rPr sz="500" dirty="0">
                <a:solidFill>
                  <a:srgbClr val="FFFFFF"/>
                </a:solidFill>
                <a:latin typeface="Consolas"/>
              </a:rPr>
              <a:t>)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OVER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PARTITION BY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customer_id</a:t>
            </a:r>
            <a:endParaRPr sz="5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    )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AS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customer_average_order_value</a:t>
            </a:r>
            <a:endParaRPr sz="5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50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500" dirty="0">
                <a:solidFill>
                  <a:srgbClr val="FFFFFF"/>
                </a:solidFill>
                <a:latin typeface="Consolas"/>
              </a:rPr>
              <a:t> </a:t>
            </a:r>
            <a:r>
              <a:rPr sz="500" dirty="0" err="1">
                <a:solidFill>
                  <a:srgbClr val="FFFFFF"/>
                </a:solidFill>
                <a:latin typeface="Consolas"/>
              </a:rPr>
              <a:t>order_values</a:t>
            </a:r>
            <a:endParaRPr sz="5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dirty="0">
                <a:solidFill>
                  <a:srgbClr val="5EBC74"/>
                </a:solidFill>
                <a:latin typeface="Consolas"/>
              </a:rPr>
              <a:t>SELECT</a:t>
            </a:r>
            <a:r>
              <a:rPr sz="740" dirty="0">
                <a:solidFill>
                  <a:srgbClr val="FFFFFF"/>
                </a:solidFill>
                <a:latin typeface="Consolas"/>
              </a:rPr>
              <a:t> *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dirty="0">
                <a:solidFill>
                  <a:srgbClr val="5EBC74"/>
                </a:solidFill>
                <a:latin typeface="Consolas"/>
              </a:rPr>
              <a:t>FROM</a:t>
            </a:r>
            <a:r>
              <a:rPr sz="740" dirty="0">
                <a:solidFill>
                  <a:srgbClr val="FFFFFF"/>
                </a:solidFill>
                <a:latin typeface="Consolas"/>
              </a:rPr>
              <a:t> </a:t>
            </a:r>
            <a:r>
              <a:rPr sz="740" dirty="0" err="1">
                <a:solidFill>
                  <a:srgbClr val="FFFFFF"/>
                </a:solidFill>
                <a:latin typeface="Consolas"/>
              </a:rPr>
              <a:t>cte</a:t>
            </a:r>
            <a:endParaRPr sz="74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dirty="0">
                <a:solidFill>
                  <a:srgbClr val="5EBC74"/>
                </a:solidFill>
                <a:latin typeface="Consolas"/>
              </a:rPr>
              <a:t>WHERE</a:t>
            </a:r>
            <a:r>
              <a:rPr sz="740" dirty="0">
                <a:solidFill>
                  <a:srgbClr val="FFFFFF"/>
                </a:solidFill>
                <a:latin typeface="Consolas"/>
              </a:rPr>
              <a:t> </a:t>
            </a:r>
            <a:r>
              <a:rPr sz="740" dirty="0" err="1">
                <a:solidFill>
                  <a:srgbClr val="FFFFFF"/>
                </a:solidFill>
                <a:latin typeface="Consolas"/>
              </a:rPr>
              <a:t>order_value</a:t>
            </a:r>
            <a:r>
              <a:rPr sz="740" dirty="0">
                <a:solidFill>
                  <a:srgbClr val="FFFFFF"/>
                </a:solidFill>
                <a:latin typeface="Consolas"/>
              </a:rPr>
              <a:t> &gt; </a:t>
            </a:r>
            <a:r>
              <a:rPr sz="740" dirty="0" err="1">
                <a:solidFill>
                  <a:srgbClr val="FFFFFF"/>
                </a:solidFill>
                <a:latin typeface="Consolas"/>
              </a:rPr>
              <a:t>customer_average_order_value</a:t>
            </a:r>
            <a:r>
              <a:rPr sz="740" dirty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732" y="5029200"/>
            <a:ext cx="2928112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Orders above a customer's own average are unusually large for that individual. This is more useful for customer-level analysis than a single overall benchmark because it accounts for differences in normal buying behaviour.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Customers With At Least 3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customers who have placed at least 3 orders. Return customer details and their order count. Use a subquery to identify qualifying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592824" cy="2295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c.customer_id,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4FADDE"/>
                </a:solidFill>
                <a:latin typeface="Consolas"/>
              </a:rPr>
              <a:t>CONCAT</a:t>
            </a:r>
            <a:r>
              <a:rPr sz="919">
                <a:solidFill>
                  <a:srgbClr val="FFFFFF"/>
                </a:solidFill>
                <a:latin typeface="Consolas"/>
              </a:rPr>
              <a:t>(c.first_name, </a:t>
            </a:r>
            <a:r>
              <a:rPr sz="919">
                <a:solidFill>
                  <a:srgbClr val="EEA858"/>
                </a:solidFill>
                <a:latin typeface="Consolas"/>
              </a:rPr>
              <a:t>' '</a:t>
            </a:r>
            <a:r>
              <a:rPr sz="919">
                <a:solidFill>
                  <a:srgbClr val="FFFFFF"/>
                </a:solidFill>
                <a:latin typeface="Consolas"/>
              </a:rPr>
              <a:t>, c.last_name)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customer_name,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c.city,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c.state_province,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t.total_orders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    customer_id,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    </a:t>
            </a:r>
            <a:r>
              <a:rPr sz="919" b="1">
                <a:solidFill>
                  <a:srgbClr val="5EBC74"/>
                </a:solidFill>
                <a:latin typeface="Consolas"/>
              </a:rPr>
              <a:t>COUNT</a:t>
            </a:r>
            <a:r>
              <a:rPr sz="919">
                <a:solidFill>
                  <a:srgbClr val="FFFFFF"/>
                </a:solidFill>
                <a:latin typeface="Consolas"/>
              </a:rPr>
              <a:t>(order_id)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total_orders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orders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5EBC74"/>
                </a:solidFill>
                <a:latin typeface="Consolas"/>
              </a:rPr>
              <a:t>GROUP BY</a:t>
            </a:r>
            <a:r>
              <a:rPr sz="919">
                <a:solidFill>
                  <a:srgbClr val="FFFFFF"/>
                </a:solidFill>
                <a:latin typeface="Consolas"/>
              </a:rPr>
              <a:t> customer_id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5EBC74"/>
                </a:solidFill>
                <a:latin typeface="Consolas"/>
              </a:rPr>
              <a:t>HAVING</a:t>
            </a:r>
            <a:r>
              <a:rPr sz="919">
                <a:solidFill>
                  <a:srgbClr val="FFFFFF"/>
                </a:solidFill>
                <a:latin typeface="Consolas"/>
              </a:rPr>
              <a:t> </a:t>
            </a:r>
            <a:r>
              <a:rPr sz="919" b="1">
                <a:solidFill>
                  <a:srgbClr val="5EBC74"/>
                </a:solidFill>
                <a:latin typeface="Consolas"/>
              </a:rPr>
              <a:t>COUNT</a:t>
            </a:r>
            <a:r>
              <a:rPr sz="919">
                <a:solidFill>
                  <a:srgbClr val="FFFFFF"/>
                </a:solidFill>
                <a:latin typeface="Consolas"/>
              </a:rPr>
              <a:t>(order_id) &gt;=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c.customer_id = t.customer_id;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102" y="5029200"/>
            <a:ext cx="2595372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Customers with at least three orders form a high-frequency group. The supplied output includes customers with 3–5 orders, giving the business a practical segment for loyalty, retention and repeat-purchase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3736"/>
            <a:ext cx="59436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704E99"/>
                </a:solidFill>
                <a:latin typeface="Aptos"/>
              </a:defRPr>
            </a:pPr>
            <a:r>
              <a:t>Q25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118872"/>
            <a:ext cx="1046988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 i="0" u="none">
                <a:solidFill>
                  <a:srgbClr val="1E2023"/>
                </a:solidFill>
                <a:latin typeface="Aptos Display"/>
              </a:defRPr>
            </a:pPr>
            <a:r>
              <a:t>Customers Who Bought a Specific Product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11018520" cy="32004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9202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11018520" cy="61264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97864"/>
            <a:ext cx="10652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 i="0" u="none">
                <a:solidFill>
                  <a:srgbClr val="1E2023"/>
                </a:solidFill>
                <a:latin typeface="Aptos"/>
              </a:defRPr>
            </a:pPr>
            <a:r>
              <a:t>Find customers who have purchased at least one product from the 'oven' product type. Show each customer only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799"/>
            <a:ext cx="16459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FULL 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6903720" cy="2523744"/>
          </a:xfrm>
          <a:prstGeom prst="roundRect">
            <a:avLst/>
          </a:prstGeom>
          <a:solidFill>
            <a:srgbClr val="182F49"/>
          </a:solidFill>
          <a:ln>
            <a:solidFill>
              <a:srgbClr val="1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240279"/>
            <a:ext cx="6592824" cy="2295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SELECT</a:t>
            </a:r>
            <a:r>
              <a:rPr sz="919">
                <a:solidFill>
                  <a:srgbClr val="FFFFFF"/>
                </a:solidFill>
                <a:latin typeface="Consolas"/>
              </a:rPr>
              <a:t> </a:t>
            </a:r>
            <a:r>
              <a:rPr sz="919" b="1">
                <a:solidFill>
                  <a:srgbClr val="5EBC74"/>
                </a:solidFill>
                <a:latin typeface="Consolas"/>
              </a:rPr>
              <a:t>DISTINCT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c.customer_id,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4FADDE"/>
                </a:solidFill>
                <a:latin typeface="Consolas"/>
              </a:rPr>
              <a:t>CONCAT</a:t>
            </a:r>
            <a:r>
              <a:rPr sz="919">
                <a:solidFill>
                  <a:srgbClr val="FFFFFF"/>
                </a:solidFill>
                <a:latin typeface="Consolas"/>
              </a:rPr>
              <a:t>(c.first_name, </a:t>
            </a:r>
            <a:r>
              <a:rPr sz="919">
                <a:solidFill>
                  <a:srgbClr val="EEA858"/>
                </a:solidFill>
                <a:latin typeface="Consolas"/>
              </a:rPr>
              <a:t>' '</a:t>
            </a:r>
            <a:r>
              <a:rPr sz="919">
                <a:solidFill>
                  <a:srgbClr val="FFFFFF"/>
                </a:solidFill>
                <a:latin typeface="Consolas"/>
              </a:rPr>
              <a:t>, c.last_name) </a:t>
            </a:r>
            <a:r>
              <a:rPr sz="919" b="1">
                <a:solidFill>
                  <a:srgbClr val="5EBC74"/>
                </a:solidFill>
                <a:latin typeface="Consolas"/>
              </a:rPr>
              <a:t>AS</a:t>
            </a:r>
            <a:r>
              <a:rPr sz="919">
                <a:solidFill>
                  <a:srgbClr val="FFFFFF"/>
                </a:solidFill>
                <a:latin typeface="Consolas"/>
              </a:rPr>
              <a:t> customer_name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FROM</a:t>
            </a:r>
            <a:r>
              <a:rPr sz="919">
                <a:solidFill>
                  <a:srgbClr val="FFFFFF"/>
                </a:solidFill>
                <a:latin typeface="Consolas"/>
              </a:rPr>
              <a:t> customers 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orders 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c.customer_id = o.customer_id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product_orders po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o.order_id = po.order_id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JOIN</a:t>
            </a:r>
            <a:r>
              <a:rPr sz="919">
                <a:solidFill>
                  <a:srgbClr val="FFFFFF"/>
                </a:solidFill>
                <a:latin typeface="Consolas"/>
              </a:rPr>
              <a:t> products 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FFFFFF"/>
                </a:solidFill>
                <a:latin typeface="Consolas"/>
              </a:rPr>
              <a:t>    </a:t>
            </a:r>
            <a:r>
              <a:rPr sz="919" b="1">
                <a:solidFill>
                  <a:srgbClr val="5EBC74"/>
                </a:solidFill>
                <a:latin typeface="Consolas"/>
              </a:rPr>
              <a:t>ON</a:t>
            </a:r>
            <a:r>
              <a:rPr sz="919">
                <a:solidFill>
                  <a:srgbClr val="FFFFFF"/>
                </a:solidFill>
                <a:latin typeface="Consolas"/>
              </a:rPr>
              <a:t> po.product_id = p.product_id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5EBC74"/>
                </a:solidFill>
                <a:latin typeface="Consolas"/>
              </a:rPr>
              <a:t>WHERE</a:t>
            </a:r>
            <a:r>
              <a:rPr sz="919">
                <a:solidFill>
                  <a:srgbClr val="FFFFFF"/>
                </a:solidFill>
                <a:latin typeface="Consolas"/>
              </a:rPr>
              <a:t> p.product_type = </a:t>
            </a:r>
            <a:r>
              <a:rPr sz="919">
                <a:solidFill>
                  <a:srgbClr val="EEA858"/>
                </a:solidFill>
                <a:latin typeface="Consolas"/>
              </a:rPr>
              <a:t>'oven'</a:t>
            </a:r>
            <a:r>
              <a:rPr sz="919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8"/>
            <a:ext cx="1554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OUTPUT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65192"/>
            <a:ext cx="6903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592" y="5029200"/>
            <a:ext cx="1650390" cy="11978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8392" y="1837943"/>
            <a:ext cx="1828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1" u="sng">
                <a:solidFill>
                  <a:srgbClr val="BE2320"/>
                </a:solidFill>
                <a:latin typeface="Aptos"/>
              </a:defRPr>
            </a:pPr>
            <a:r>
              <a:t>BUSINESS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121408"/>
            <a:ext cx="3877056" cy="416966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8392" y="2121408"/>
            <a:ext cx="64008" cy="4169663"/>
          </a:xfrm>
          <a:prstGeom prst="rect">
            <a:avLst/>
          </a:prstGeom>
          <a:solidFill>
            <a:srgbClr val="70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3" y="2414015"/>
            <a:ext cx="3392424" cy="3666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  <a:defRPr sz="1120" b="1" i="0" u="none">
                <a:solidFill>
                  <a:srgbClr val="1E2023"/>
                </a:solidFill>
                <a:latin typeface="Aptos"/>
              </a:defRPr>
            </a:pPr>
            <a:r>
              <a:t>• Oven buyers form a product-specific customer segment. This segment can be used for targeted cross-sell, accessory recommendations and future campaigns based on related products.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393192"/>
            <a:ext cx="1060704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3000" b="1" i="0" u="none">
                <a:solidFill>
                  <a:srgbClr val="704E99"/>
                </a:solidFill>
                <a:latin typeface="Aptos Display"/>
              </a:defRPr>
            </a:pPr>
            <a:r>
              <a:t>KEY BUSINESS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0" u="none">
                <a:solidFill>
                  <a:srgbClr val="BE2B2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234440"/>
            <a:ext cx="9692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 i="0" u="none">
                <a:solidFill>
                  <a:srgbClr val="1E2023"/>
                </a:solidFill>
                <a:latin typeface="Aptos"/>
              </a:defRPr>
            </a:pPr>
            <a:r>
              <a:t>Customer analysis supports revenue ranking, segmentation and repeat-purchase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47672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0" u="none">
                <a:solidFill>
                  <a:srgbClr val="BE2B2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47672"/>
            <a:ext cx="9692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 i="0" u="none">
                <a:solidFill>
                  <a:srgbClr val="1E2023"/>
                </a:solidFill>
                <a:latin typeface="Aptos"/>
              </a:defRPr>
            </a:pPr>
            <a:r>
              <a:t>Window functions provide ranking, order sequence, purchase-gap and revenue-trend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60904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0" u="none">
                <a:solidFill>
                  <a:srgbClr val="BE2B2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660904"/>
            <a:ext cx="9692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 i="0" u="none">
                <a:solidFill>
                  <a:srgbClr val="1E2023"/>
                </a:solidFill>
                <a:latin typeface="Aptos"/>
              </a:defRPr>
            </a:pPr>
            <a:r>
              <a:t>Product analysis compares revenue and volume at product and product-type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4136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0" u="none">
                <a:solidFill>
                  <a:srgbClr val="BE2B2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374136"/>
            <a:ext cx="9692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 i="0" u="none">
                <a:solidFill>
                  <a:srgbClr val="1E2023"/>
                </a:solidFill>
                <a:latin typeface="Aptos"/>
              </a:defRPr>
            </a:pPr>
            <a:r>
              <a:t>Monthly analysis makes revenue changes and cumulative performance visible over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87368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0" u="none">
                <a:solidFill>
                  <a:srgbClr val="BE2B2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087368"/>
            <a:ext cx="9692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 i="0" u="none">
                <a:solidFill>
                  <a:srgbClr val="1E2023"/>
                </a:solidFill>
                <a:latin typeface="Aptos"/>
              </a:defRPr>
            </a:pPr>
            <a:r>
              <a:t>Above-average customer/product queries turn raw transactions into actionable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5029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100" b="1" i="0" u="none">
                <a:solidFill>
                  <a:srgbClr val="BE2B2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800600"/>
            <a:ext cx="96926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 i="0" u="none">
                <a:solidFill>
                  <a:srgbClr val="1E2023"/>
                </a:solidFill>
                <a:latin typeface="Aptos"/>
              </a:defRPr>
            </a:pPr>
            <a:r>
              <a:t>The SQL outputs provide a strong foundation for an Excel dashboard and business presentation.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64808"/>
            <a:ext cx="5943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 b="0" i="0" u="none">
                <a:solidFill>
                  <a:srgbClr val="646A72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4958</Words>
  <Application>Microsoft Office PowerPoint</Application>
  <PresentationFormat>Widescreen</PresentationFormat>
  <Paragraphs>553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Adarsh Nadda</dc:creator>
  <cp:keywords/>
  <dc:description>generated using python-pptx</dc:description>
  <cp:lastModifiedBy>Adarsh Nadda</cp:lastModifiedBy>
  <cp:revision>6</cp:revision>
  <dcterms:created xsi:type="dcterms:W3CDTF">2013-01-27T09:14:16Z</dcterms:created>
  <dcterms:modified xsi:type="dcterms:W3CDTF">2026-09-18T10:19:28Z</dcterms:modified>
  <cp:category/>
</cp:coreProperties>
</file>